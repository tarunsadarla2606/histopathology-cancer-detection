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89895833e3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289895833e3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89895833e3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289895833e3_3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89895833e3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289895833e3_3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89895833e3_3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289895833e3_3_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89895833e3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289895833e3_1_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89895833e3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289895833e3_1_1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89895833e3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289895833e3_1_1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89895833e3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289895833e3_1_1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895511d1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895511d1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895511d1e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895511d1e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895511d1e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895511d1e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89557c790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89557c790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8985953596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28985953596_1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8985953596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28985953596_1_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8985953596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28985953596_1_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8985953596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28985953596_1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ffba5cbb3c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ffba5cbb3c_1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ffba5cbb3c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2ffba5cbb3c_1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ffba5cbb3c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2ffba5cbb3c_1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89557c790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89557c790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7429500" y="4767263"/>
            <a:ext cx="1086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2" name="Google Shape;92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kaggle.com/c/histopathologic-cancer-detection/data" TargetMode="External"/><Relationship Id="rId4" Type="http://schemas.openxmlformats.org/officeDocument/2006/relationships/hyperlink" Target="https://drive.google.com/drive/folders/1oYalLjO8AzuRX7vOV75bYSnFinFZQ6hu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/>
              <a:t>Deployable Histopathologic Cancer Detection System</a:t>
            </a:r>
            <a:endParaRPr/>
          </a:p>
        </p:txBody>
      </p:sp>
      <p:sp>
        <p:nvSpPr>
          <p:cNvPr id="136" name="Google Shape;136;p26"/>
          <p:cNvSpPr txBox="1"/>
          <p:nvPr>
            <p:ph idx="1" type="subTitle"/>
          </p:nvPr>
        </p:nvSpPr>
        <p:spPr>
          <a:xfrm>
            <a:off x="1143000" y="2701528"/>
            <a:ext cx="6858000" cy="23225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3000"/>
              <a:buNone/>
            </a:pPr>
            <a:r>
              <a:rPr lang="en" sz="3000">
                <a:solidFill>
                  <a:srgbClr val="757070"/>
                </a:solidFill>
              </a:rPr>
              <a:t>Using Deep Learning on Patch-Based Lymph Node Images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" sz="2400"/>
              <a:t>Project Manager: Ramyasri Murugesan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181927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" sz="1800"/>
              <a:t>Objective:</a:t>
            </a:r>
            <a:r>
              <a:rPr lang="en" sz="1800"/>
              <a:t> </a:t>
            </a:r>
            <a:r>
              <a:rPr lang="en" sz="1800">
                <a:solidFill>
                  <a:srgbClr val="000000"/>
                </a:solidFill>
              </a:rPr>
              <a:t>D</a:t>
            </a:r>
            <a:r>
              <a:rPr b="0" i="0" lang="en" sz="1800" u="none" strike="noStrike">
                <a:solidFill>
                  <a:srgbClr val="000000"/>
                </a:solidFill>
              </a:rPr>
              <a:t>evelop a deployable deep-learning model capable of accurately detecting cancerous regions in histopathologic lymph node images. </a:t>
            </a:r>
            <a:endParaRPr/>
          </a:p>
          <a:p>
            <a:pPr indent="-18192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" sz="1800"/>
              <a:t>Dataset:</a:t>
            </a:r>
            <a:r>
              <a:rPr lang="en" sz="1800"/>
              <a:t> Utilize image data from </a:t>
            </a:r>
            <a:r>
              <a:rPr b="0" i="0" lang="en" sz="1800" u="sng" strike="noStrike">
                <a:solidFill>
                  <a:schemeClr val="hlink"/>
                </a:solidFill>
                <a:hlinkClick r:id="rId3"/>
              </a:rPr>
              <a:t>Kaggle competition</a:t>
            </a:r>
            <a:r>
              <a:rPr b="0" i="0" lang="en" sz="1800" u="none" strike="noStrike">
                <a:solidFill>
                  <a:srgbClr val="000000"/>
                </a:solidFill>
              </a:rPr>
              <a:t>, which consists of 277,483 (96x96 pixel) RGB images of lymph node sections, labeled as cancerous or non-cancerous </a:t>
            </a:r>
            <a:r>
              <a:rPr lang="en" sz="1800"/>
              <a:t>containing </a:t>
            </a:r>
            <a:r>
              <a:rPr b="0" i="0" lang="en" sz="1800" u="none" strike="noStrike">
                <a:solidFill>
                  <a:srgbClr val="000000"/>
                </a:solidFill>
              </a:rPr>
              <a:t>220,025 training images, and 57,458 testing images.</a:t>
            </a:r>
            <a:endParaRPr sz="1800"/>
          </a:p>
          <a:p>
            <a:pPr indent="-18192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" sz="1800"/>
              <a:t>Models: </a:t>
            </a:r>
            <a:r>
              <a:rPr lang="en" sz="1800"/>
              <a:t>Employ custom convolutional neural networks (CNNs) and </a:t>
            </a:r>
            <a:r>
              <a:rPr b="0" i="0" lang="en" sz="1800" u="none" strike="noStrike">
                <a:solidFill>
                  <a:srgbClr val="000000"/>
                </a:solidFill>
              </a:rPr>
              <a:t>a hybrid CNN- Vision Transformer </a:t>
            </a:r>
            <a:r>
              <a:rPr lang="en" sz="1800">
                <a:solidFill>
                  <a:srgbClr val="000000"/>
                </a:solidFill>
              </a:rPr>
              <a:t>(</a:t>
            </a:r>
            <a:r>
              <a:rPr b="0" i="0" lang="en" sz="1800" u="none" strike="noStrike">
                <a:solidFill>
                  <a:srgbClr val="000000"/>
                </a:solidFill>
              </a:rPr>
              <a:t>ViT) model</a:t>
            </a:r>
            <a:r>
              <a:rPr lang="en" sz="1800"/>
              <a:t> to process the patch-based images, extracting features and classifying them with high accuracy.</a:t>
            </a:r>
            <a:endParaRPr/>
          </a:p>
          <a:p>
            <a:pPr indent="-18192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" sz="1800"/>
              <a:t>Deployment: </a:t>
            </a:r>
            <a:r>
              <a:rPr lang="en" sz="1800"/>
              <a:t>Implement the model on cloud platforms using AWS and deploy it through a web interface.</a:t>
            </a:r>
            <a:endParaRPr/>
          </a:p>
          <a:p>
            <a:pPr indent="-18192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" sz="1800"/>
              <a:t>Recording Link: </a:t>
            </a:r>
            <a:r>
              <a:rPr lang="en" sz="1800" u="sng">
                <a:solidFill>
                  <a:schemeClr val="accent1"/>
                </a:solidFill>
              </a:rPr>
              <a:t>https://drive.google.com/drive/folders/1oYalLjO8AzuRX7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https://drive.google.com/drive/folders/1oYalLjO8AzuRX7vOV75bYSnFinFZQ6hu?usp=sharing</a:t>
            </a:r>
            <a:r>
              <a:rPr lang="en" sz="1800" u="sng">
                <a:solidFill>
                  <a:schemeClr val="accent1"/>
                </a:solidFill>
              </a:rPr>
              <a:t>vOV75bYSnFinFZQ6hu?usp=sharing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Roles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i="0" lang="en" sz="1800" u="none" strike="noStrike">
                <a:solidFill>
                  <a:srgbClr val="000000"/>
                </a:solidFill>
              </a:rPr>
              <a:t>Project Manager</a:t>
            </a:r>
            <a:r>
              <a:rPr b="0" i="0" lang="en" sz="1800" u="none" strike="noStrike">
                <a:solidFill>
                  <a:srgbClr val="000000"/>
                </a:solidFill>
              </a:rPr>
              <a:t> - Ramyasri Murugesan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i="0" lang="en" sz="1800" u="none" strike="noStrike">
                <a:solidFill>
                  <a:srgbClr val="000000"/>
                </a:solidFill>
              </a:rPr>
              <a:t>Feature Engineering and Data Preprocessing Specialist </a:t>
            </a:r>
            <a:r>
              <a:rPr b="0" i="0" lang="en" sz="1800" u="none" strike="noStrike">
                <a:solidFill>
                  <a:srgbClr val="000000"/>
                </a:solidFill>
              </a:rPr>
              <a:t>- Ziya Mubeen Ahmed Mohammed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i="0" lang="en" sz="1800" u="none" strike="noStrike">
                <a:solidFill>
                  <a:srgbClr val="000000"/>
                </a:solidFill>
              </a:rPr>
              <a:t>Model Developer 1 </a:t>
            </a:r>
            <a:r>
              <a:rPr b="0" i="0" lang="en" sz="1800" u="none" strike="noStrike">
                <a:solidFill>
                  <a:srgbClr val="000000"/>
                </a:solidFill>
              </a:rPr>
              <a:t> - Tarun Sadarla</a:t>
            </a:r>
            <a:endParaRPr sz="1800">
              <a:solidFill>
                <a:srgbClr val="000000"/>
              </a:solidFill>
            </a:endParaRPr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i="0" lang="en" sz="1800" u="none" strike="noStrike">
                <a:solidFill>
                  <a:srgbClr val="000000"/>
                </a:solidFill>
              </a:rPr>
              <a:t>Model Developer 2</a:t>
            </a:r>
            <a:r>
              <a:rPr b="0" i="0" lang="en" sz="1800" u="none" strike="noStrike">
                <a:solidFill>
                  <a:srgbClr val="000000"/>
                </a:solidFill>
              </a:rPr>
              <a:t>  - Abdul Rafay Mohd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i="0" lang="en" sz="1800" u="none" strike="noStrike">
                <a:solidFill>
                  <a:srgbClr val="000000"/>
                </a:solidFill>
              </a:rPr>
              <a:t>Deployment Specialist</a:t>
            </a:r>
            <a:r>
              <a:rPr b="0" i="0" lang="en" sz="1800" u="none" strike="noStrike">
                <a:solidFill>
                  <a:srgbClr val="000000"/>
                </a:solidFill>
              </a:rPr>
              <a:t> - Darshan Rohit Karkera</a:t>
            </a:r>
            <a:r>
              <a:rPr lang="en" sz="1800">
                <a:solidFill>
                  <a:srgbClr val="000000"/>
                </a:solidFill>
              </a:rPr>
              <a:t> 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Responsibilities</a:t>
            </a:r>
            <a:endParaRPr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Define project scope, objectives, and deliverables, ensuring alignment with overall goals.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Assign tasks to team members based on skills and capacity, managing time and resources efficiently.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Identify and address risks, mitigating potential issues and solving conflicts as they arise.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Make key decisions to steer the project, ensuring milestones are met and the project stays on track.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Monitor progress throughout the project lifecycle, guiding it from initiation to successful closure.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0" name="Google Shape;160;p30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61" name="Google Shape;161;p30"/>
          <p:cNvGrpSpPr/>
          <p:nvPr/>
        </p:nvGrpSpPr>
        <p:grpSpPr>
          <a:xfrm>
            <a:off x="8137" y="-2315"/>
            <a:ext cx="1649213" cy="2512139"/>
            <a:chOff x="10849" y="-3086"/>
            <a:chExt cx="2198951" cy="3349518"/>
          </a:xfrm>
        </p:grpSpPr>
        <p:sp>
          <p:nvSpPr>
            <p:cNvPr id="162" name="Google Shape;162;p30"/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rect b="b" l="l" r="r" t="t"/>
              <a:pathLst>
                <a:path extrusionOk="0" h="679363" w="1482102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" name="Google Shape;163;p30"/>
            <p:cNvSpPr/>
            <p:nvPr/>
          </p:nvSpPr>
          <p:spPr>
            <a:xfrm>
              <a:off x="19394" y="15241"/>
              <a:ext cx="2190406" cy="3331191"/>
            </a:xfrm>
            <a:custGeom>
              <a:rect b="b" l="l" r="r" t="t"/>
              <a:pathLst>
                <a:path extrusionOk="0" h="5012722" w="3296088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cmpd="sng" w="9525">
              <a:solidFill>
                <a:schemeClr val="accent2">
                  <a:alpha val="49803"/>
                </a:schemeClr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4" name="Google Shape;164;p30"/>
            <p:cNvSpPr/>
            <p:nvPr/>
          </p:nvSpPr>
          <p:spPr>
            <a:xfrm>
              <a:off x="10849" y="15178"/>
              <a:ext cx="1978674" cy="3074959"/>
            </a:xfrm>
            <a:custGeom>
              <a:rect b="b" l="l" r="r" t="t"/>
              <a:pathLst>
                <a:path extrusionOk="0" h="4627149" w="2977477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cmpd="sng" w="9525">
              <a:solidFill>
                <a:schemeClr val="accent2">
                  <a:alpha val="49803"/>
                </a:schemeClr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5" name="Google Shape;165;p30"/>
            <p:cNvSpPr/>
            <p:nvPr/>
          </p:nvSpPr>
          <p:spPr>
            <a:xfrm>
              <a:off x="25092" y="15178"/>
              <a:ext cx="1566146" cy="2737264"/>
            </a:xfrm>
            <a:custGeom>
              <a:rect b="b" l="l" r="r" t="t"/>
              <a:pathLst>
                <a:path extrusionOk="0" h="4118991" w="2356712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cmpd="sng" w="9525">
              <a:solidFill>
                <a:schemeClr val="accent2">
                  <a:alpha val="49803"/>
                </a:schemeClr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6" name="Google Shape;166;p30"/>
            <p:cNvSpPr/>
            <p:nvPr/>
          </p:nvSpPr>
          <p:spPr>
            <a:xfrm>
              <a:off x="10849" y="15178"/>
              <a:ext cx="1368431" cy="2644975"/>
            </a:xfrm>
            <a:custGeom>
              <a:rect b="b" l="l" r="r" t="t"/>
              <a:pathLst>
                <a:path extrusionOk="0" h="3980116" w="2059193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cmpd="sng" w="9525">
              <a:solidFill>
                <a:schemeClr val="accent2">
                  <a:alpha val="49803"/>
                </a:schemeClr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7" name="Google Shape;167;p30"/>
            <p:cNvSpPr/>
            <p:nvPr/>
          </p:nvSpPr>
          <p:spPr>
            <a:xfrm>
              <a:off x="18825" y="543780"/>
              <a:ext cx="494287" cy="1905590"/>
            </a:xfrm>
            <a:custGeom>
              <a:rect b="b" l="l" r="r" t="t"/>
              <a:pathLst>
                <a:path extrusionOk="0" h="2867501" w="743796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cmpd="sng" w="9525">
              <a:solidFill>
                <a:schemeClr val="accent2">
                  <a:alpha val="49803"/>
                </a:schemeClr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8" name="Google Shape;168;p30"/>
            <p:cNvSpPr/>
            <p:nvPr/>
          </p:nvSpPr>
          <p:spPr>
            <a:xfrm>
              <a:off x="10849" y="672286"/>
              <a:ext cx="396930" cy="1690303"/>
            </a:xfrm>
            <a:custGeom>
              <a:rect b="b" l="l" r="r" t="t"/>
              <a:pathLst>
                <a:path extrusionOk="0" h="2543540" w="597294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cmpd="sng" w="9525">
              <a:solidFill>
                <a:schemeClr val="accent2">
                  <a:alpha val="49803"/>
                </a:schemeClr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9" name="Google Shape;169;p30"/>
            <p:cNvSpPr/>
            <p:nvPr/>
          </p:nvSpPr>
          <p:spPr>
            <a:xfrm>
              <a:off x="23002" y="881264"/>
              <a:ext cx="258791" cy="1336561"/>
            </a:xfrm>
            <a:custGeom>
              <a:rect b="b" l="l" r="r" t="t"/>
              <a:pathLst>
                <a:path extrusionOk="0" h="2011236" w="389425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cmpd="sng" w="9525">
              <a:solidFill>
                <a:schemeClr val="accent2">
                  <a:alpha val="49803"/>
                </a:schemeClr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70" name="Google Shape;170;p30"/>
          <p:cNvSpPr txBox="1"/>
          <p:nvPr>
            <p:ph type="ctrTitle"/>
          </p:nvPr>
        </p:nvSpPr>
        <p:spPr>
          <a:xfrm>
            <a:off x="754240" y="558682"/>
            <a:ext cx="3598835" cy="236656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" sz="3200"/>
              <a:t>Histopathalogical Cancer Detection </a:t>
            </a:r>
            <a:endParaRPr/>
          </a:p>
        </p:txBody>
      </p:sp>
      <p:sp>
        <p:nvSpPr>
          <p:cNvPr id="171" name="Google Shape;171;p30"/>
          <p:cNvSpPr txBox="1"/>
          <p:nvPr>
            <p:ph idx="1" type="subTitle"/>
          </p:nvPr>
        </p:nvSpPr>
        <p:spPr>
          <a:xfrm>
            <a:off x="759589" y="3056088"/>
            <a:ext cx="3598835" cy="15407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" sz="1800">
                <a:solidFill>
                  <a:schemeClr val="dk1"/>
                </a:solidFill>
              </a:rPr>
              <a:t>Ziya Mubeen Ahmed – Handling Data-Preprocessing and Feature Engineering.</a:t>
            </a:r>
            <a:endParaRPr b="1" sz="2900">
              <a:solidFill>
                <a:schemeClr val="dk1"/>
              </a:solidFill>
            </a:endParaRPr>
          </a:p>
        </p:txBody>
      </p:sp>
      <p:pic>
        <p:nvPicPr>
          <p:cNvPr descr="Close-up of purple cells" id="172" name="Google Shape;172;p30"/>
          <p:cNvPicPr preferRelativeResize="0"/>
          <p:nvPr/>
        </p:nvPicPr>
        <p:blipFill rotWithShape="1">
          <a:blip r:embed="rId3">
            <a:alphaModFix/>
          </a:blip>
          <a:srcRect b="0" l="16122" r="16122" t="0"/>
          <a:stretch/>
        </p:blipFill>
        <p:spPr>
          <a:xfrm>
            <a:off x="4497471" y="8"/>
            <a:ext cx="4646529" cy="51434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30"/>
          <p:cNvGrpSpPr/>
          <p:nvPr/>
        </p:nvGrpSpPr>
        <p:grpSpPr>
          <a:xfrm>
            <a:off x="4452894" y="2527173"/>
            <a:ext cx="89154" cy="89154"/>
            <a:chOff x="1175347" y="3733800"/>
            <a:chExt cx="118872" cy="118872"/>
          </a:xfrm>
        </p:grpSpPr>
        <p:cxnSp>
          <p:nvCxnSpPr>
            <p:cNvPr id="174" name="Google Shape;174;p30"/>
            <p:cNvCxnSpPr/>
            <p:nvPr/>
          </p:nvCxnSpPr>
          <p:spPr>
            <a:xfrm>
              <a:off x="1234783" y="3733800"/>
              <a:ext cx="0" cy="118872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" name="Google Shape;175;p30"/>
            <p:cNvCxnSpPr/>
            <p:nvPr/>
          </p:nvCxnSpPr>
          <p:spPr>
            <a:xfrm>
              <a:off x="1175347" y="3793236"/>
              <a:ext cx="118872" cy="0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76" name="Google Shape;176;p30"/>
          <p:cNvGrpSpPr/>
          <p:nvPr/>
        </p:nvGrpSpPr>
        <p:grpSpPr>
          <a:xfrm>
            <a:off x="5985300" y="2457451"/>
            <a:ext cx="3158700" cy="2686049"/>
            <a:chOff x="7980400" y="3276601"/>
            <a:chExt cx="4211600" cy="3581399"/>
          </a:xfrm>
        </p:grpSpPr>
        <p:grpSp>
          <p:nvGrpSpPr>
            <p:cNvPr id="177" name="Google Shape;177;p30"/>
            <p:cNvGrpSpPr/>
            <p:nvPr/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</p:grpSpPr>
          <p:sp>
            <p:nvSpPr>
              <p:cNvPr id="178" name="Google Shape;178;p30"/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rect b="b" l="l" r="r" t="t"/>
                <a:pathLst>
                  <a:path extrusionOk="0" h="3989641" w="3946874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2">
                    <a:alpha val="34901"/>
                  </a:schemeClr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179" name="Google Shape;179;p30"/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rect b="b" l="l" r="r" t="t"/>
                <a:pathLst>
                  <a:path extrusionOk="0" h="2985611" w="3665410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2">
                    <a:alpha val="34901"/>
                  </a:schemeClr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180" name="Google Shape;180;p30"/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rect b="b" l="l" r="r" t="t"/>
                <a:pathLst>
                  <a:path extrusionOk="0" h="199072" w="285940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2">
                    <a:alpha val="34901"/>
                  </a:schemeClr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181" name="Google Shape;181;p30"/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rect b="b" l="l" r="r" t="t"/>
                <a:pathLst>
                  <a:path extrusionOk="0" h="381190" w="655796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2">
                    <a:alpha val="34901"/>
                  </a:schemeClr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182" name="Google Shape;182;p30"/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rect b="b" l="l" r="r" t="t"/>
                <a:pathLst>
                  <a:path extrusionOk="0" h="1544764" w="2907315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2">
                    <a:alpha val="34901"/>
                  </a:schemeClr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183" name="Google Shape;183;p30"/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rect b="b" l="l" r="r" t="t"/>
                <a:pathLst>
                  <a:path extrusionOk="0" h="1952434" w="3168300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2">
                    <a:alpha val="34901"/>
                  </a:schemeClr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184" name="Google Shape;184;p30"/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rect b="b" l="l" r="r" t="t"/>
                <a:pathLst>
                  <a:path extrusionOk="0" h="2452020" w="335680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2">
                    <a:alpha val="34901"/>
                  </a:schemeClr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sp>
          <p:nvSpPr>
            <p:cNvPr id="185" name="Google Shape;185;p30"/>
            <p:cNvSpPr/>
            <p:nvPr/>
          </p:nvSpPr>
          <p:spPr>
            <a:xfrm>
              <a:off x="7980400" y="5197178"/>
              <a:ext cx="4211600" cy="1660822"/>
            </a:xfrm>
            <a:custGeom>
              <a:rect b="b" l="l" r="r" t="t"/>
              <a:pathLst>
                <a:path extrusionOk="0" h="1660822" w="4211600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651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" sz="2000">
                <a:solidFill>
                  <a:schemeClr val="dk1"/>
                </a:solidFill>
              </a:rPr>
              <a:t>Dataset Structure</a:t>
            </a:r>
            <a:r>
              <a:rPr lang="en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228600" lvl="1" marL="5588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" sz="2000">
                <a:solidFill>
                  <a:schemeClr val="dk1"/>
                </a:solidFill>
              </a:rPr>
              <a:t>Reviewed 32x32 pathology image center patches with corresponding labels.</a:t>
            </a:r>
            <a:endParaRPr sz="2000">
              <a:solidFill>
                <a:schemeClr val="dk1"/>
              </a:solidFill>
            </a:endParaRPr>
          </a:p>
          <a:p>
            <a:pPr indent="-228600" lvl="1" marL="5588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" sz="2000">
                <a:solidFill>
                  <a:schemeClr val="dk1"/>
                </a:solidFill>
              </a:rPr>
              <a:t>Slight class imbalance (55% non-cancerous, 45% cancerous).</a:t>
            </a:r>
            <a:endParaRPr sz="2000">
              <a:solidFill>
                <a:schemeClr val="dk1"/>
              </a:solidFill>
            </a:endParaRPr>
          </a:p>
          <a:p>
            <a:pPr indent="-165100" lvl="0" marL="177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" sz="2000">
                <a:solidFill>
                  <a:schemeClr val="dk1"/>
                </a:solidFill>
              </a:rPr>
              <a:t>Visualization</a:t>
            </a:r>
            <a:r>
              <a:rPr lang="en" sz="2000">
                <a:solidFill>
                  <a:schemeClr val="dk1"/>
                </a:solidFill>
              </a:rPr>
              <a:t>: Random image samples are visualized to ensure quality.</a:t>
            </a:r>
            <a:endParaRPr sz="2000">
              <a:solidFill>
                <a:schemeClr val="dk1"/>
              </a:solidFill>
            </a:endParaRPr>
          </a:p>
          <a:p>
            <a:pPr indent="-165100" lvl="0" marL="177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" sz="2000">
                <a:solidFill>
                  <a:schemeClr val="dk1"/>
                </a:solidFill>
              </a:rPr>
              <a:t>Class Distribution</a:t>
            </a:r>
            <a:r>
              <a:rPr lang="en" sz="2000">
                <a:solidFill>
                  <a:schemeClr val="dk1"/>
                </a:solidFill>
              </a:rPr>
              <a:t>: Cancer vs. non-cancer cases plotted and analyzed.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1200"/>
              </a:spcAft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197" name="Google Shape;197;p3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651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" sz="2000">
                <a:solidFill>
                  <a:schemeClr val="dk1"/>
                </a:solidFill>
              </a:rPr>
              <a:t>Resizing</a:t>
            </a:r>
            <a:r>
              <a:rPr lang="en" sz="2000">
                <a:solidFill>
                  <a:schemeClr val="dk1"/>
                </a:solidFill>
              </a:rPr>
              <a:t>: All images are resized to a standard 32x32 dimension.</a:t>
            </a:r>
            <a:endParaRPr sz="2000">
              <a:solidFill>
                <a:schemeClr val="dk1"/>
              </a:solidFill>
            </a:endParaRPr>
          </a:p>
          <a:p>
            <a:pPr indent="-165100" lvl="0" marL="177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" sz="2000">
                <a:solidFill>
                  <a:schemeClr val="dk1"/>
                </a:solidFill>
              </a:rPr>
              <a:t>Normalization</a:t>
            </a:r>
            <a:r>
              <a:rPr lang="en" sz="2000">
                <a:solidFill>
                  <a:schemeClr val="dk1"/>
                </a:solidFill>
              </a:rPr>
              <a:t>: Pixel intensities normalized to the 0-1 range.</a:t>
            </a:r>
            <a:endParaRPr sz="2000">
              <a:solidFill>
                <a:schemeClr val="dk1"/>
              </a:solidFill>
            </a:endParaRPr>
          </a:p>
          <a:p>
            <a:pPr indent="-165100" lvl="0" marL="177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" sz="2000">
                <a:solidFill>
                  <a:schemeClr val="dk1"/>
                </a:solidFill>
              </a:rPr>
              <a:t>Data Augmentation</a:t>
            </a:r>
            <a:r>
              <a:rPr lang="en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228600" lvl="1" marL="5588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" sz="2000">
                <a:solidFill>
                  <a:schemeClr val="dk1"/>
                </a:solidFill>
              </a:rPr>
              <a:t>Applied techniques like rotations, flips, and zooming.</a:t>
            </a:r>
            <a:endParaRPr sz="2000">
              <a:solidFill>
                <a:schemeClr val="dk1"/>
              </a:solidFill>
            </a:endParaRPr>
          </a:p>
          <a:p>
            <a:pPr indent="-228600" lvl="1" marL="5588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" sz="2000">
                <a:solidFill>
                  <a:schemeClr val="dk1"/>
                </a:solidFill>
              </a:rPr>
              <a:t>Helps expand the dataset and reduce overfitting.</a:t>
            </a:r>
            <a:endParaRPr sz="2000">
              <a:solidFill>
                <a:schemeClr val="dk1"/>
              </a:solidFill>
            </a:endParaRPr>
          </a:p>
          <a:p>
            <a:pPr indent="-38100" lvl="0" marL="177800" rtl="0" algn="l">
              <a:lnSpc>
                <a:spcPct val="110000"/>
              </a:lnSpc>
              <a:spcBef>
                <a:spcPts val="800"/>
              </a:spcBef>
              <a:spcAft>
                <a:spcPts val="1200"/>
              </a:spcAft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203" name="Google Shape;203;p3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t/>
            </a:r>
            <a:endParaRPr/>
          </a:p>
          <a:p>
            <a:pPr indent="-1333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en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Transfer Learning</a:t>
            </a: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Planning to use </a:t>
            </a:r>
            <a:r>
              <a:rPr b="1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pre-trained models</a:t>
            </a: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like ResNet or InceptionV3.</a:t>
            </a:r>
            <a:endParaRPr sz="2000"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" sz="2000">
                <a:solidFill>
                  <a:schemeClr val="dk1"/>
                </a:solidFill>
              </a:rPr>
              <a:t> </a:t>
            </a:r>
            <a:r>
              <a:rPr b="1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 Features</a:t>
            </a: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Investigated color/texture-based features for further insights.</a:t>
            </a:r>
            <a:endParaRPr sz="2000"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" sz="2000">
                <a:solidFill>
                  <a:schemeClr val="dk1"/>
                </a:solidFill>
              </a:rPr>
              <a:t> </a:t>
            </a:r>
            <a:r>
              <a:rPr b="1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Step</a:t>
            </a: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Feature extraction via transfer learning for model input. </a:t>
            </a:r>
            <a:endParaRPr sz="2000"/>
          </a:p>
          <a:p>
            <a:pPr indent="-38100" lvl="0" marL="177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1200"/>
              </a:spcAft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type="ctrTitle"/>
          </p:nvPr>
        </p:nvSpPr>
        <p:spPr>
          <a:xfrm>
            <a:off x="311700" y="791475"/>
            <a:ext cx="8520600" cy="22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00"/>
              <a:t>Deployable Histopathologic Cancer Detection System Using Deep Learning on Patch-Based Lymph Node Images</a:t>
            </a:r>
            <a:endParaRPr b="1" sz="3400"/>
          </a:p>
        </p:txBody>
      </p:sp>
      <p:sp>
        <p:nvSpPr>
          <p:cNvPr id="209" name="Google Shape;209;p34"/>
          <p:cNvSpPr txBox="1"/>
          <p:nvPr>
            <p:ph idx="1" type="subTitle"/>
          </p:nvPr>
        </p:nvSpPr>
        <p:spPr>
          <a:xfrm>
            <a:off x="311700" y="38659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Model Developer 1: Tarun Sadarla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</a:t>
            </a:r>
            <a:r>
              <a:rPr lang="en"/>
              <a:t> Neural Network Architecture</a:t>
            </a:r>
            <a:endParaRPr/>
          </a:p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Five convolutional layers with increasing filter sizes (16, 32, 64, 128, 256) using 3x3 kernels, each followed by Leaky ReLU activations and dropout for regularization.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Max-pooling layers after each convolutional block, with a 2x2 window to reduce spatial dimensions.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Batch normalization layers applied after every convolutional layer starting from second layer to stabilize training.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Dropout layers with a 20% dropout rate to prevent overfitting.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Fully connected layer with 100 neurons following a flattening of the feature maps from the final convolutional layer.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</a:t>
            </a:r>
            <a:r>
              <a:rPr lang="en"/>
              <a:t>and Metrics</a:t>
            </a:r>
            <a:endParaRPr/>
          </a:p>
        </p:txBody>
      </p:sp>
      <p:sp>
        <p:nvSpPr>
          <p:cNvPr id="221" name="Google Shape;22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Adam Optimizer with starting learning rate = 0.01, beta1 = 0.9, beta2 = 0.999, and epsilon = 1e-7.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Further NAdam and RMSProp will also be used to compare and see which Optimizer gives best results.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Binary Cross-Entropy Loss for binary classification tasks.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Accuracy, Precision, Recall, Specificity, F1 Score, ROC-AUC are the various metric this model will be evaluated 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Confusion Matrix will be used for visualizing classification performance.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Explainable AI</a:t>
            </a:r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Explainable AI (XAI) aims to make machine learning model’s decisions more transparent and understandable to humans.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Grad-CAM generates heatmaps to highlight the regions of an image that contribute most to the model's decision, providing insight into what the model is focusing 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By visualizing the model's attention areas, Grad-CAM helps understand how the model distinguishes between cancerous and non-cancerous tissues.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ctrTitle"/>
          </p:nvPr>
        </p:nvSpPr>
        <p:spPr>
          <a:xfrm>
            <a:off x="311708" y="10728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/>
              <a:t>Ensemble Method for Histopathological Image Classification Using CNN and Vision Transformer</a:t>
            </a:r>
            <a:endParaRPr sz="5800"/>
          </a:p>
        </p:txBody>
      </p:sp>
      <p:sp>
        <p:nvSpPr>
          <p:cNvPr id="233" name="Google Shape;233;p38"/>
          <p:cNvSpPr txBox="1"/>
          <p:nvPr>
            <p:ph idx="1" type="subTitle"/>
          </p:nvPr>
        </p:nvSpPr>
        <p:spPr>
          <a:xfrm>
            <a:off x="311700" y="38190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chemeClr val="dk1"/>
                </a:solidFill>
              </a:rPr>
              <a:t>Model Developer 2: Abdul Rafay Mohd</a:t>
            </a:r>
            <a:endParaRPr sz="3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/>
        </p:nvSpPr>
        <p:spPr>
          <a:xfrm>
            <a:off x="847481" y="511571"/>
            <a:ext cx="74490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Enhance histopathological image classification by combining Convolutional Neural Networks (CNNs) and Vision Transformers (ViTs) in an ensemble approach.</a:t>
            </a:r>
            <a:endParaRPr sz="11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Dataset:</a:t>
            </a: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Histopathological patches (32x32) from Kaggle's "Histopathologic Cancer Detection" competition.</a:t>
            </a:r>
            <a:endParaRPr sz="11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 Training:</a:t>
            </a: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The model will be trained on a random sample of 20,000 images.</a:t>
            </a:r>
            <a:endParaRPr sz="11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Plans:</a:t>
            </a: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If the model performs well, it will be retrained on the entire dataset.</a:t>
            </a:r>
            <a:endParaRPr sz="11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/>
        </p:nvSpPr>
        <p:spPr>
          <a:xfrm>
            <a:off x="859693" y="586591"/>
            <a:ext cx="7424614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Architectures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Convolutional Neural Network (CNN):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Architecture:</a:t>
            </a:r>
            <a:endParaRPr b="0" i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32x32 image patches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Layers: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Conv1: 32 filters, 3x3 kernel</a:t>
            </a:r>
            <a:endParaRPr sz="1100"/>
          </a:p>
          <a:p>
            <a:pPr indent="0" lvl="2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Conv2: 64 filters, 3x3 kernel</a:t>
            </a:r>
            <a:endParaRPr sz="1100"/>
          </a:p>
          <a:p>
            <a:pPr indent="0" lvl="2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Conv3: 128 filters, 3x3 kernel</a:t>
            </a:r>
            <a:endParaRPr sz="1100"/>
          </a:p>
          <a:p>
            <a:pPr indent="0" lvl="2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MaxPooling: Reduces dimensions</a:t>
            </a:r>
            <a:endParaRPr sz="1100"/>
          </a:p>
          <a:p>
            <a:pPr indent="0" lvl="2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Fully Connected: Linear layer with 512 units</a:t>
            </a:r>
            <a:endParaRPr sz="1100"/>
          </a:p>
          <a:p>
            <a:pPr indent="0" lvl="2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Layer: Classification (e.g., cancer or non-cancer)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r>
              <a:rPr b="0" i="0" lang="en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Suitable for small patches, hierarchical feature extraction.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/>
          <p:nvPr/>
        </p:nvSpPr>
        <p:spPr>
          <a:xfrm>
            <a:off x="603250" y="736632"/>
            <a:ext cx="7937500" cy="36702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Vision Transformer (ViT):</a:t>
            </a:r>
            <a:endParaRPr b="0" i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Architecture:</a:t>
            </a:r>
            <a:endParaRPr b="0" i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32x32 image patches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Patch Size:</a:t>
            </a: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8x8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Patch Embedding: Converts patches to embeddings</a:t>
            </a:r>
            <a:endParaRPr sz="1100"/>
          </a:p>
          <a:p>
            <a:pPr indent="0" lvl="2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Token: Added for classification</a:t>
            </a:r>
            <a:endParaRPr sz="1100"/>
          </a:p>
          <a:p>
            <a:pPr indent="0" lvl="2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Positional Encoding: Adds spatial information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Transformer Layers:</a:t>
            </a: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Multiple encoder layers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MLP Head:</a:t>
            </a: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Classification layer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r>
              <a:rPr b="0" i="0" lang="en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Captures global context and long-range dependencies.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/>
          <p:nvPr/>
        </p:nvSpPr>
        <p:spPr>
          <a:xfrm>
            <a:off x="493346" y="228801"/>
            <a:ext cx="8157307" cy="46858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and Evaluation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Ensemble Model: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Combining CNN and ViT:</a:t>
            </a:r>
            <a:endParaRPr b="0" i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Inputs: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Pass image patches through CNN and ViT.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Outputs: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Combine outputs by averaging predictions.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Leverages strengths of both models for improved accuracy.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and Testing:</a:t>
            </a:r>
            <a:endParaRPr b="0" i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 Training:</a:t>
            </a:r>
            <a:endParaRPr b="0" i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Dataset: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Random sample of 20,000 images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Augmentation: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Not applied (32x32 patches directly used).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 Function: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CrossEntropyLoss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Optimizer: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Adam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Epochs: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10 (adjustable)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Evaluation:</a:t>
            </a:r>
            <a:endParaRPr b="0" i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Metrics: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Accuracy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 Results: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Provide sample results (e.g., Accuracy: 85%)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Steps:</a:t>
            </a:r>
            <a:endParaRPr b="0" i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 Dataset Retraining:</a:t>
            </a:r>
            <a:r>
              <a:rPr b="0" i="0" lang="en" sz="1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If the model performs well on the sample, it will be retrained on the entire dataset.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Histopathologic Cancer Detection System Documentation</a:t>
            </a:r>
            <a:endParaRPr/>
          </a:p>
        </p:txBody>
      </p:sp>
      <p:sp>
        <p:nvSpPr>
          <p:cNvPr id="259" name="Google Shape;259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">
                <a:solidFill>
                  <a:srgbClr val="888888"/>
                </a:solidFill>
              </a:rPr>
              <a:t>Using AWS, Django, and ReactJS</a:t>
            </a:r>
            <a:endParaRPr>
              <a:solidFill>
                <a:srgbClr val="88888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">
                <a:solidFill>
                  <a:schemeClr val="dk1"/>
                </a:solidFill>
              </a:rPr>
              <a:t>Deployment Specialist: Darshan Rohit Karkera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265" name="Google Shape;265;p4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S3: Store image data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EC2: Host application and ML model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Django: Backend API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ReactJS: User Interface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Gunicorn: WSGI HTTP Server for Django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 Strategy</a:t>
            </a:r>
            <a:endParaRPr/>
          </a:p>
        </p:txBody>
      </p:sp>
      <p:sp>
        <p:nvSpPr>
          <p:cNvPr id="271" name="Google Shape;271;p4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EC2 Setup with AMI including necessary libraries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Configure Gunicorn and Django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 CI/CD pipeline using AWS CodePipeline and CodeBuild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 txBox="1"/>
          <p:nvPr>
            <p:ph type="title"/>
          </p:nvPr>
        </p:nvSpPr>
        <p:spPr>
          <a:xfrm>
            <a:off x="1388100" y="5263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